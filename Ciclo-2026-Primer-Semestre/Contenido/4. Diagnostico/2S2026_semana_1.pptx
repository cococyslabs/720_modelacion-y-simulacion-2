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10287000" cx="18288000"/>
  <p:notesSz cx="6858000" cy="9144000"/>
  <p:embeddedFontLst>
    <p:embeddedFont>
      <p:font typeface="Arimo"/>
      <p:regular r:id="rId20"/>
      <p:bold r:id="rId21"/>
      <p:italic r:id="rId22"/>
      <p:boldItalic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gUQ9eDCHG/JpSC5ZdZxBknC4Ho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regular.fntdata"/><Relationship Id="rId22" Type="http://schemas.openxmlformats.org/officeDocument/2006/relationships/font" Target="fonts/Arimo-italic.fntdata"/><Relationship Id="rId21" Type="http://schemas.openxmlformats.org/officeDocument/2006/relationships/font" Target="fonts/Arimo-bold.fntdata"/><Relationship Id="rId24" Type="http://schemas.openxmlformats.org/officeDocument/2006/relationships/font" Target="fonts/OpenSans-regular.fntdata"/><Relationship Id="rId23" Type="http://schemas.openxmlformats.org/officeDocument/2006/relationships/font" Target="fonts/Arim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8" Type="http://customschemas.google.com/relationships/presentationmetadata" Target="metadata"/><Relationship Id="rId27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6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8287999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0927415" y="2449767"/>
            <a:ext cx="2505075" cy="144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57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Día, Fecha: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97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Hora de inicio: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4683426" y="2147600"/>
            <a:ext cx="2858100" cy="18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Miércoles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3000">
                <a:solidFill>
                  <a:schemeClr val="dk1"/>
                </a:solidFill>
              </a:rPr>
              <a:t>0</a:t>
            </a: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b="1" lang="en-US" sz="3000">
                <a:solidFill>
                  <a:schemeClr val="dk1"/>
                </a:solidFill>
              </a:rPr>
              <a:t>0</a:t>
            </a: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/ 202</a:t>
            </a:r>
            <a:r>
              <a:rPr b="1" lang="en-US" sz="3000">
                <a:solidFill>
                  <a:schemeClr val="dk1"/>
                </a:solidFill>
              </a:rPr>
              <a:t>6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285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17:20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10656399" y="1954337"/>
            <a:ext cx="7366000" cy="2181225"/>
          </a:xfrm>
          <a:custGeom>
            <a:rect b="b" l="l" r="r" t="t"/>
            <a:pathLst>
              <a:path extrusionOk="0" h="2181225" w="7366000">
                <a:moveTo>
                  <a:pt x="14287" y="14287"/>
                </a:moveTo>
                <a:lnTo>
                  <a:pt x="14287" y="2166937"/>
                </a:lnTo>
              </a:path>
              <a:path extrusionOk="0" h="2181225" w="7366000">
                <a:moveTo>
                  <a:pt x="3032700" y="14287"/>
                </a:moveTo>
                <a:lnTo>
                  <a:pt x="3032700" y="2166937"/>
                </a:lnTo>
              </a:path>
              <a:path extrusionOk="0" h="2181225" w="7366000">
                <a:moveTo>
                  <a:pt x="7351711" y="14287"/>
                </a:moveTo>
                <a:lnTo>
                  <a:pt x="7351711" y="2166937"/>
                </a:lnTo>
              </a:path>
              <a:path extrusionOk="0" h="2181225" w="7366000">
                <a:moveTo>
                  <a:pt x="0" y="0"/>
                </a:moveTo>
                <a:lnTo>
                  <a:pt x="7365999" y="0"/>
                </a:lnTo>
              </a:path>
              <a:path extrusionOk="0" h="2181225" w="7366000">
                <a:moveTo>
                  <a:pt x="0" y="1362074"/>
                </a:moveTo>
                <a:lnTo>
                  <a:pt x="7365999" y="1362074"/>
                </a:lnTo>
              </a:path>
              <a:path extrusionOk="0" h="2181225" w="7366000">
                <a:moveTo>
                  <a:pt x="0" y="2181224"/>
                </a:moveTo>
                <a:lnTo>
                  <a:pt x="7365999" y="2181224"/>
                </a:lnTo>
              </a:path>
            </a:pathLst>
          </a:custGeom>
          <a:noFill/>
          <a:ln cap="flat" cmpd="sng" w="285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>
            <p:ph type="title"/>
          </p:nvPr>
        </p:nvSpPr>
        <p:spPr>
          <a:xfrm>
            <a:off x="2959075" y="4465213"/>
            <a:ext cx="9198610" cy="7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lang="en-US" sz="5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Modelación y Simulación 2 [B]</a:t>
            </a:r>
            <a:endParaRPr sz="5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2959075" y="5635725"/>
            <a:ext cx="82326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Pablo </a:t>
            </a:r>
            <a:r>
              <a:rPr b="1" lang="en-US" sz="4000">
                <a:solidFill>
                  <a:schemeClr val="dk1"/>
                </a:solidFill>
              </a:rPr>
              <a:t>Gerardo Schaart Calderon</a:t>
            </a:r>
            <a:endParaRPr b="0" i="0" sz="4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1EFB2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788875" y="2040801"/>
            <a:ext cx="16040100" cy="29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US" sz="8400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Laboratorio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454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00"/>
              <a:buFont typeface="Arial"/>
              <a:buNone/>
            </a:pPr>
            <a:r>
              <a:rPr b="1" i="0" lang="en-US" sz="8400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Modelación y Simulación 2</a:t>
            </a:r>
            <a:r>
              <a:rPr b="1" i="0" lang="en-US" sz="8800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 [B]</a:t>
            </a:r>
            <a:endParaRPr b="1" i="0" sz="8400" u="none" cap="none" strike="noStrike">
              <a:solidFill>
                <a:srgbClr val="2A2A2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1028700" y="9135469"/>
            <a:ext cx="7200900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1028700" y="8716123"/>
            <a:ext cx="6981379" cy="4193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1034387" y="8255748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1028700" y="7833475"/>
            <a:ext cx="4667700" cy="3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99"/>
              <a:buFont typeface="Arial"/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Segundo semestre 202</a:t>
            </a:r>
            <a:r>
              <a:rPr b="1" lang="en-US" sz="2499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1028700" y="4946895"/>
            <a:ext cx="160401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01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Pablo </a:t>
            </a:r>
            <a:r>
              <a:rPr b="1" lang="en-US" sz="5000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Gerardo Schaart Calderon</a:t>
            </a:r>
            <a:r>
              <a:rPr b="1" i="0" lang="en-US" sz="5000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/>
        </p:nvSpPr>
        <p:spPr>
          <a:xfrm>
            <a:off x="1733550" y="1727086"/>
            <a:ext cx="6590377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0" i="0" lang="en-US" sz="9000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1733550" y="4797871"/>
            <a:ext cx="5997460" cy="3762043"/>
          </a:xfrm>
          <a:custGeom>
            <a:rect b="b" l="l" r="r" t="t"/>
            <a:pathLst>
              <a:path extrusionOk="0" h="3762043" w="5997460">
                <a:moveTo>
                  <a:pt x="0" y="0"/>
                </a:moveTo>
                <a:lnTo>
                  <a:pt x="5997460" y="0"/>
                </a:lnTo>
                <a:lnTo>
                  <a:pt x="5997460" y="3762043"/>
                </a:lnTo>
                <a:lnTo>
                  <a:pt x="0" y="37620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7" name="Google Shape;107;p3"/>
          <p:cNvGrpSpPr/>
          <p:nvPr/>
        </p:nvGrpSpPr>
        <p:grpSpPr>
          <a:xfrm>
            <a:off x="10381327" y="1961184"/>
            <a:ext cx="6077873" cy="5235542"/>
            <a:chOff x="0" y="-57150"/>
            <a:chExt cx="8103830" cy="7963521"/>
          </a:xfrm>
        </p:grpSpPr>
        <p:sp>
          <p:nvSpPr>
            <p:cNvPr id="108" name="Google Shape;108;p3"/>
            <p:cNvSpPr txBox="1"/>
            <p:nvPr/>
          </p:nvSpPr>
          <p:spPr>
            <a:xfrm>
              <a:off x="0" y="-57150"/>
              <a:ext cx="8103830" cy="5566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Presentación Auxiliar de curso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9" name="Google Shape;109;p3"/>
            <p:cNvCxnSpPr/>
            <p:nvPr/>
          </p:nvCxnSpPr>
          <p:spPr>
            <a:xfrm>
              <a:off x="0" y="1033332"/>
              <a:ext cx="8103830" cy="0"/>
            </a:xfrm>
            <a:prstGeom prst="straightConnector1">
              <a:avLst/>
            </a:prstGeom>
            <a:noFill/>
            <a:ln cap="rnd" cmpd="sng" w="12700">
              <a:solidFill>
                <a:srgbClr val="399D4E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0" name="Google Shape;110;p3"/>
            <p:cNvSpPr txBox="1"/>
            <p:nvPr/>
          </p:nvSpPr>
          <p:spPr>
            <a:xfrm>
              <a:off x="0" y="1524585"/>
              <a:ext cx="8103830" cy="547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Presentación de estudiantes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1" name="Google Shape;111;p3"/>
            <p:cNvCxnSpPr/>
            <p:nvPr/>
          </p:nvCxnSpPr>
          <p:spPr>
            <a:xfrm>
              <a:off x="0" y="2605542"/>
              <a:ext cx="8103830" cy="0"/>
            </a:xfrm>
            <a:prstGeom prst="straightConnector1">
              <a:avLst/>
            </a:prstGeom>
            <a:noFill/>
            <a:ln cap="rnd" cmpd="sng" w="12700">
              <a:solidFill>
                <a:srgbClr val="399D4E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2" name="Google Shape;112;p3"/>
            <p:cNvSpPr txBox="1"/>
            <p:nvPr/>
          </p:nvSpPr>
          <p:spPr>
            <a:xfrm>
              <a:off x="0" y="3087270"/>
              <a:ext cx="8103830" cy="1140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Presentación del programa del laboratorio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3" name="Google Shape;113;p3"/>
            <p:cNvCxnSpPr/>
            <p:nvPr/>
          </p:nvCxnSpPr>
          <p:spPr>
            <a:xfrm>
              <a:off x="0" y="4761952"/>
              <a:ext cx="8103830" cy="0"/>
            </a:xfrm>
            <a:prstGeom prst="straightConnector1">
              <a:avLst/>
            </a:prstGeom>
            <a:noFill/>
            <a:ln cap="rnd" cmpd="sng" w="12700">
              <a:solidFill>
                <a:srgbClr val="399D4E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4" name="Google Shape;114;p3"/>
            <p:cNvSpPr txBox="1"/>
            <p:nvPr/>
          </p:nvSpPr>
          <p:spPr>
            <a:xfrm>
              <a:off x="0" y="5243680"/>
              <a:ext cx="8103830" cy="637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Evaluación MYS1	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5" name="Google Shape;115;p3"/>
            <p:cNvCxnSpPr/>
            <p:nvPr/>
          </p:nvCxnSpPr>
          <p:spPr>
            <a:xfrm>
              <a:off x="0" y="6334161"/>
              <a:ext cx="8103830" cy="0"/>
            </a:xfrm>
            <a:prstGeom prst="straightConnector1">
              <a:avLst/>
            </a:prstGeom>
            <a:noFill/>
            <a:ln cap="rnd" cmpd="sng" w="12700">
              <a:solidFill>
                <a:srgbClr val="399D4E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6" name="Google Shape;116;p3"/>
            <p:cNvSpPr txBox="1"/>
            <p:nvPr/>
          </p:nvSpPr>
          <p:spPr>
            <a:xfrm>
              <a:off x="0" y="6815891"/>
              <a:ext cx="8103830" cy="6379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500"/>
                <a:buFont typeface="Arial"/>
                <a:buNone/>
              </a:pPr>
              <a:r>
                <a:rPr b="0" i="0" lang="en-US" sz="2500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Evaluación MYS2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7" name="Google Shape;117;p3"/>
            <p:cNvCxnSpPr/>
            <p:nvPr/>
          </p:nvCxnSpPr>
          <p:spPr>
            <a:xfrm>
              <a:off x="0" y="7906371"/>
              <a:ext cx="8103830" cy="0"/>
            </a:xfrm>
            <a:prstGeom prst="straightConnector1">
              <a:avLst/>
            </a:prstGeom>
            <a:noFill/>
            <a:ln cap="rnd" cmpd="sng" w="12700">
              <a:solidFill>
                <a:srgbClr val="399D4E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18" name="Google Shape;118;p3"/>
          <p:cNvCxnSpPr/>
          <p:nvPr/>
        </p:nvCxnSpPr>
        <p:spPr>
          <a:xfrm>
            <a:off x="10381327" y="8191500"/>
            <a:ext cx="6077873" cy="0"/>
          </a:xfrm>
          <a:prstGeom prst="straightConnector1">
            <a:avLst/>
          </a:prstGeom>
          <a:noFill/>
          <a:ln cap="rnd" cmpd="sng" w="12700">
            <a:solidFill>
              <a:srgbClr val="399D4E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" name="Google Shape;119;p3"/>
          <p:cNvSpPr txBox="1"/>
          <p:nvPr/>
        </p:nvSpPr>
        <p:spPr>
          <a:xfrm>
            <a:off x="10381327" y="7511120"/>
            <a:ext cx="6077873" cy="365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Despedida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1EFB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/>
        </p:nvSpPr>
        <p:spPr>
          <a:xfrm>
            <a:off x="1324411" y="3090973"/>
            <a:ext cx="9238327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0" i="0" lang="en-US" sz="8000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¿Quién soy? Conociendo al auxiliar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11522082" y="2309630"/>
            <a:ext cx="5507310" cy="5220284"/>
          </a:xfrm>
          <a:custGeom>
            <a:rect b="b" l="l" r="r" t="t"/>
            <a:pathLst>
              <a:path extrusionOk="0" h="5220284" w="5507310">
                <a:moveTo>
                  <a:pt x="0" y="0"/>
                </a:moveTo>
                <a:lnTo>
                  <a:pt x="5507310" y="0"/>
                </a:lnTo>
                <a:lnTo>
                  <a:pt x="5507310" y="5220285"/>
                </a:lnTo>
                <a:lnTo>
                  <a:pt x="0" y="52202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rgbClr val="399D4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 txBox="1"/>
          <p:nvPr/>
        </p:nvSpPr>
        <p:spPr>
          <a:xfrm>
            <a:off x="846732" y="1019175"/>
            <a:ext cx="7450535" cy="2295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0" i="0" lang="en-US" sz="7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Presentación de estudiantes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5"/>
          <p:cNvSpPr txBox="1"/>
          <p:nvPr/>
        </p:nvSpPr>
        <p:spPr>
          <a:xfrm>
            <a:off x="846732" y="4247887"/>
            <a:ext cx="7450535" cy="405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85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 txBox="1"/>
          <p:nvPr/>
        </p:nvSpPr>
        <p:spPr>
          <a:xfrm>
            <a:off x="846732" y="4117207"/>
            <a:ext cx="7307987" cy="4311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7825" lvl="1" marL="75565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Nombre.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1" marL="75565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Intereses y expectativas sobre el curso.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1" marL="75565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Experiencia previa relacionada con el tema (si aplica).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1" marL="75565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 dato curioso sobre sí mismo.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9677400" y="0"/>
            <a:ext cx="8005354" cy="10287000"/>
          </a:xfrm>
          <a:custGeom>
            <a:rect b="b" l="l" r="r" t="t"/>
            <a:pathLst>
              <a:path extrusionOk="0" h="10287000" w="8005354">
                <a:moveTo>
                  <a:pt x="0" y="0"/>
                </a:moveTo>
                <a:lnTo>
                  <a:pt x="8005355" y="0"/>
                </a:lnTo>
                <a:lnTo>
                  <a:pt x="800535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63" l="0" r="0" t="-836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1EFB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/>
        </p:nvSpPr>
        <p:spPr>
          <a:xfrm>
            <a:off x="458507" y="3258204"/>
            <a:ext cx="10726944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3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Brindar al estudiante conocimientos teóricos y prácticos fundamentales en el diseño de modelos de procesos de negocio empleando herramientas de simulación para la toma de decisiones.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2A2A2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11755644" y="0"/>
            <a:ext cx="8005354" cy="10287000"/>
          </a:xfrm>
          <a:custGeom>
            <a:rect b="b" l="l" r="r" t="t"/>
            <a:pathLst>
              <a:path extrusionOk="0" h="10287000" w="8005354">
                <a:moveTo>
                  <a:pt x="0" y="0"/>
                </a:moveTo>
                <a:lnTo>
                  <a:pt x="8005355" y="0"/>
                </a:lnTo>
                <a:lnTo>
                  <a:pt x="800535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63" l="0" r="0" t="-836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 txBox="1"/>
          <p:nvPr/>
        </p:nvSpPr>
        <p:spPr>
          <a:xfrm>
            <a:off x="458507" y="1954507"/>
            <a:ext cx="10726944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9"/>
              <a:buFont typeface="Arial"/>
              <a:buNone/>
            </a:pPr>
            <a:r>
              <a:rPr b="1" i="0" lang="en-US" sz="5999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Objetivo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1EFB2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 txBox="1"/>
          <p:nvPr/>
        </p:nvSpPr>
        <p:spPr>
          <a:xfrm>
            <a:off x="458507" y="2518655"/>
            <a:ext cx="10726944" cy="58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77825" lvl="1" marL="755651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Proveer al estudiante conocimientos de los principios de la simulación.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1" marL="755651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Ayudar a que el estudiante logre abstraer los elementos esenciales de los procesos que conforman a un sistema.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1" marL="755651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Modelar procesos de negocio utilizando SIMIO como herramientas de simulación.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77825" lvl="1" marL="755651" marR="0" rtl="0" algn="just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A2A2A"/>
              </a:buClr>
              <a:buSzPts val="3500"/>
              <a:buFont typeface="Arial"/>
              <a:buChar char="•"/>
            </a:pPr>
            <a:r>
              <a:rPr b="0" i="0" lang="en-US" sz="3500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Analizar y optimizar procesos mediante resultados obtenidos por la simulación de sistemas.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t/>
            </a:r>
            <a:endParaRPr b="0" i="0" sz="3500" u="none" cap="none" strike="noStrike">
              <a:solidFill>
                <a:srgbClr val="2A2A2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1755644" y="0"/>
            <a:ext cx="8005354" cy="10287000"/>
          </a:xfrm>
          <a:custGeom>
            <a:rect b="b" l="l" r="r" t="t"/>
            <a:pathLst>
              <a:path extrusionOk="0" h="10287000" w="8005354">
                <a:moveTo>
                  <a:pt x="0" y="0"/>
                </a:moveTo>
                <a:lnTo>
                  <a:pt x="8005355" y="0"/>
                </a:lnTo>
                <a:lnTo>
                  <a:pt x="8005355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363" l="0" r="0" t="-836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 txBox="1"/>
          <p:nvPr/>
        </p:nvSpPr>
        <p:spPr>
          <a:xfrm>
            <a:off x="458507" y="1038225"/>
            <a:ext cx="10726944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9"/>
              <a:buFont typeface="Arial"/>
              <a:buNone/>
            </a:pPr>
            <a:r>
              <a:rPr b="1" i="0" lang="en-US" sz="5999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Objetivos Especificos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/>
          <p:nvPr/>
        </p:nvSpPr>
        <p:spPr>
          <a:xfrm>
            <a:off x="0" y="0"/>
            <a:ext cx="8658225" cy="10287000"/>
          </a:xfrm>
          <a:prstGeom prst="rect">
            <a:avLst/>
          </a:prstGeom>
          <a:solidFill>
            <a:srgbClr val="399D4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4" name="Google Shape;154;p8"/>
          <p:cNvGrpSpPr/>
          <p:nvPr/>
        </p:nvGrpSpPr>
        <p:grpSpPr>
          <a:xfrm>
            <a:off x="1375383" y="3200830"/>
            <a:ext cx="5907458" cy="3885339"/>
            <a:chOff x="0" y="0"/>
            <a:chExt cx="7876611" cy="5180452"/>
          </a:xfrm>
        </p:grpSpPr>
        <p:sp>
          <p:nvSpPr>
            <p:cNvPr id="155" name="Google Shape;155;p8"/>
            <p:cNvSpPr txBox="1"/>
            <p:nvPr/>
          </p:nvSpPr>
          <p:spPr>
            <a:xfrm>
              <a:off x="0" y="0"/>
              <a:ext cx="7876611" cy="289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50"/>
                <a:buFont typeface="Arial"/>
                <a:buNone/>
              </a:pPr>
              <a:r>
                <a:rPr b="0" i="0" lang="en-US" sz="7150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Metodología del curso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8"/>
            <p:cNvSpPr txBox="1"/>
            <p:nvPr/>
          </p:nvSpPr>
          <p:spPr>
            <a:xfrm>
              <a:off x="0" y="4570852"/>
              <a:ext cx="7876611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8"/>
          <p:cNvGrpSpPr/>
          <p:nvPr/>
        </p:nvGrpSpPr>
        <p:grpSpPr>
          <a:xfrm>
            <a:off x="11371975" y="456345"/>
            <a:ext cx="5417891" cy="1382411"/>
            <a:chOff x="0" y="0"/>
            <a:chExt cx="7223855" cy="1843214"/>
          </a:xfrm>
        </p:grpSpPr>
        <p:sp>
          <p:nvSpPr>
            <p:cNvPr id="158" name="Google Shape;158;p8"/>
            <p:cNvSpPr txBox="1"/>
            <p:nvPr/>
          </p:nvSpPr>
          <p:spPr>
            <a:xfrm>
              <a:off x="0" y="0"/>
              <a:ext cx="7223855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Laboratorio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8"/>
            <p:cNvSpPr txBox="1"/>
            <p:nvPr/>
          </p:nvSpPr>
          <p:spPr>
            <a:xfrm>
              <a:off x="0" y="838221"/>
              <a:ext cx="7223855" cy="1004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9"/>
                <a:buFont typeface="Arial"/>
                <a:buNone/>
              </a:pPr>
              <a:r>
                <a:rPr b="0" i="0" lang="en-US" sz="2199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 El laboratorio se impartirá una vez por semana, con duración de 2 períodos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" name="Google Shape;160;p8"/>
          <p:cNvGrpSpPr/>
          <p:nvPr/>
        </p:nvGrpSpPr>
        <p:grpSpPr>
          <a:xfrm>
            <a:off x="11371975" y="2653357"/>
            <a:ext cx="5417891" cy="4975049"/>
            <a:chOff x="0" y="0"/>
            <a:chExt cx="7223855" cy="6633398"/>
          </a:xfrm>
        </p:grpSpPr>
        <p:sp>
          <p:nvSpPr>
            <p:cNvPr id="161" name="Google Shape;161;p8"/>
            <p:cNvSpPr txBox="1"/>
            <p:nvPr/>
          </p:nvSpPr>
          <p:spPr>
            <a:xfrm>
              <a:off x="0" y="0"/>
              <a:ext cx="7223855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Tareas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8"/>
            <p:cNvSpPr txBox="1"/>
            <p:nvPr/>
          </p:nvSpPr>
          <p:spPr>
            <a:xfrm>
              <a:off x="0" y="838221"/>
              <a:ext cx="7223855" cy="57951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1" marL="0" marR="0" rtl="0" algn="just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9"/>
                <a:buFont typeface="Arial"/>
                <a:buNone/>
              </a:pPr>
              <a:r>
                <a:rPr b="0" i="0" lang="en-US" sz="2199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La entrega de tareas, hojas de trabajo, prácticas y proyectos serán por la plataforma de UEDI o Google Classroom utilizando el formato de entrega definido por el auxiliar en la fecha establecida, entregas tarde serán penalizadas.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9"/>
                <a:buFont typeface="Arial"/>
                <a:buNone/>
              </a:pPr>
              <a:r>
                <a:t/>
              </a:r>
              <a:endParaRPr b="0" i="0" sz="2199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9"/>
                <a:buFont typeface="Arial"/>
                <a:buNone/>
              </a:pPr>
              <a:r>
                <a:rPr b="0" i="0" lang="en-US" sz="2199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Se realizarán hojas de trabajo y tareas para apoyar al estudiante en el aprendizaje de la herramienta y evaluar los conocimientos adquiridos.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3" name="Google Shape;163;p8"/>
          <p:cNvGrpSpPr/>
          <p:nvPr/>
        </p:nvGrpSpPr>
        <p:grpSpPr>
          <a:xfrm>
            <a:off x="11371975" y="7875889"/>
            <a:ext cx="5417891" cy="1382411"/>
            <a:chOff x="0" y="0"/>
            <a:chExt cx="7223855" cy="1843214"/>
          </a:xfrm>
        </p:grpSpPr>
        <p:sp>
          <p:nvSpPr>
            <p:cNvPr id="164" name="Google Shape;164;p8"/>
            <p:cNvSpPr txBox="1"/>
            <p:nvPr/>
          </p:nvSpPr>
          <p:spPr>
            <a:xfrm>
              <a:off x="0" y="0"/>
              <a:ext cx="7223855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1" i="0" lang="en-US" sz="3000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Grupos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8"/>
            <p:cNvSpPr txBox="1"/>
            <p:nvPr/>
          </p:nvSpPr>
          <p:spPr>
            <a:xfrm>
              <a:off x="0" y="838221"/>
              <a:ext cx="7223855" cy="10049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99"/>
                <a:buFont typeface="Arial"/>
                <a:buNone/>
              </a:pPr>
              <a:r>
                <a:rPr b="0" i="0" lang="en-US" sz="2199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El proyecto se desarrollará en los grupos establecidos el primer día de laboratorio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6" name="Google Shape;166;p8"/>
          <p:cNvSpPr/>
          <p:nvPr/>
        </p:nvSpPr>
        <p:spPr>
          <a:xfrm>
            <a:off x="10009796" y="456345"/>
            <a:ext cx="435546" cy="663574"/>
          </a:xfrm>
          <a:custGeom>
            <a:rect b="b" l="l" r="r" t="t"/>
            <a:pathLst>
              <a:path extrusionOk="0" h="663574" w="435546">
                <a:moveTo>
                  <a:pt x="0" y="0"/>
                </a:moveTo>
                <a:lnTo>
                  <a:pt x="435546" y="0"/>
                </a:lnTo>
                <a:lnTo>
                  <a:pt x="435546" y="663574"/>
                </a:lnTo>
                <a:lnTo>
                  <a:pt x="0" y="663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9978427" y="2653357"/>
            <a:ext cx="498284" cy="663574"/>
          </a:xfrm>
          <a:custGeom>
            <a:rect b="b" l="l" r="r" t="t"/>
            <a:pathLst>
              <a:path extrusionOk="0" h="663574" w="498284">
                <a:moveTo>
                  <a:pt x="0" y="0"/>
                </a:moveTo>
                <a:lnTo>
                  <a:pt x="498284" y="0"/>
                </a:lnTo>
                <a:lnTo>
                  <a:pt x="498284" y="663574"/>
                </a:lnTo>
                <a:lnTo>
                  <a:pt x="0" y="663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9978427" y="7875889"/>
            <a:ext cx="688613" cy="555898"/>
          </a:xfrm>
          <a:custGeom>
            <a:rect b="b" l="l" r="r" t="t"/>
            <a:pathLst>
              <a:path extrusionOk="0" h="555898" w="688613">
                <a:moveTo>
                  <a:pt x="0" y="0"/>
                </a:moveTo>
                <a:lnTo>
                  <a:pt x="688613" y="0"/>
                </a:lnTo>
                <a:lnTo>
                  <a:pt x="688613" y="555899"/>
                </a:lnTo>
                <a:lnTo>
                  <a:pt x="0" y="5558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99D4E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 txBox="1"/>
          <p:nvPr/>
        </p:nvSpPr>
        <p:spPr>
          <a:xfrm>
            <a:off x="7154119" y="1671538"/>
            <a:ext cx="98012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0"/>
              <a:buFont typeface="Arial"/>
              <a:buNone/>
            </a:pPr>
            <a:r>
              <a:rPr b="0" i="0" lang="en-US" sz="90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Presentación del programa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0" y="0"/>
            <a:ext cx="5459458" cy="10287000"/>
          </a:xfrm>
          <a:custGeom>
            <a:rect b="b" l="l" r="r" t="t"/>
            <a:pathLst>
              <a:path extrusionOk="0" h="10287000" w="5459458">
                <a:moveTo>
                  <a:pt x="0" y="0"/>
                </a:moveTo>
                <a:lnTo>
                  <a:pt x="5459458" y="0"/>
                </a:lnTo>
                <a:lnTo>
                  <a:pt x="545945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9067" r="-16544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 txBox="1"/>
          <p:nvPr/>
        </p:nvSpPr>
        <p:spPr>
          <a:xfrm>
            <a:off x="7154119" y="5417065"/>
            <a:ext cx="9801225" cy="2391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99"/>
              <a:buFont typeface="Arial"/>
              <a:buNone/>
            </a:pPr>
            <a:r>
              <a:rPr b="0" i="0" lang="en-US" sz="4599" u="sng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https://drive.google.com/file/d/1P_r_7EzRzhjfRBEzE4b_JATuA9RoJjzD/view?usp=sharing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0"/>
          <p:cNvSpPr/>
          <p:nvPr/>
        </p:nvSpPr>
        <p:spPr>
          <a:xfrm>
            <a:off x="1058247" y="0"/>
            <a:ext cx="7351776" cy="6048756"/>
          </a:xfrm>
          <a:custGeom>
            <a:rect b="b" l="l" r="r" t="t"/>
            <a:pathLst>
              <a:path extrusionOk="0" h="4032504" w="4901184">
                <a:moveTo>
                  <a:pt x="0" y="0"/>
                </a:moveTo>
                <a:lnTo>
                  <a:pt x="4901184" y="0"/>
                </a:lnTo>
                <a:lnTo>
                  <a:pt x="4901184" y="3813911"/>
                </a:lnTo>
                <a:cubicBezTo>
                  <a:pt x="4901184" y="3934637"/>
                  <a:pt x="4803317" y="4032504"/>
                  <a:pt x="4682591" y="4032504"/>
                </a:cubicBezTo>
                <a:lnTo>
                  <a:pt x="218593" y="4032504"/>
                </a:lnTo>
                <a:cubicBezTo>
                  <a:pt x="97867" y="4032504"/>
                  <a:pt x="0" y="3934637"/>
                  <a:pt x="0" y="381391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1305135" y="-4"/>
            <a:ext cx="6858000" cy="5801867"/>
          </a:xfrm>
          <a:custGeom>
            <a:rect b="b" l="l" r="r" t="t"/>
            <a:pathLst>
              <a:path extrusionOk="0" h="3867912" w="4572000">
                <a:moveTo>
                  <a:pt x="0" y="0"/>
                </a:moveTo>
                <a:lnTo>
                  <a:pt x="4572000" y="0"/>
                </a:lnTo>
                <a:lnTo>
                  <a:pt x="4572000" y="3704966"/>
                </a:lnTo>
                <a:cubicBezTo>
                  <a:pt x="4572000" y="3794959"/>
                  <a:pt x="4499047" y="3867912"/>
                  <a:pt x="4409054" y="3867912"/>
                </a:cubicBezTo>
                <a:lnTo>
                  <a:pt x="162946" y="3867912"/>
                </a:lnTo>
                <a:cubicBezTo>
                  <a:pt x="72953" y="3867912"/>
                  <a:pt x="0" y="3794959"/>
                  <a:pt x="0" y="3704966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1058247" y="6361873"/>
            <a:ext cx="7351776" cy="3925127"/>
          </a:xfrm>
          <a:custGeom>
            <a:rect b="b" l="l" r="r" t="t"/>
            <a:pathLst>
              <a:path extrusionOk="0" h="2616751" w="4901184">
                <a:moveTo>
                  <a:pt x="218593" y="0"/>
                </a:moveTo>
                <a:lnTo>
                  <a:pt x="4682591" y="0"/>
                </a:lnTo>
                <a:cubicBezTo>
                  <a:pt x="4803317" y="0"/>
                  <a:pt x="4901184" y="97867"/>
                  <a:pt x="4901184" y="218593"/>
                </a:cubicBezTo>
                <a:lnTo>
                  <a:pt x="4901184" y="2616751"/>
                </a:lnTo>
                <a:lnTo>
                  <a:pt x="0" y="2616751"/>
                </a:lnTo>
                <a:lnTo>
                  <a:pt x="0" y="218593"/>
                </a:lnTo>
                <a:cubicBezTo>
                  <a:pt x="0" y="97867"/>
                  <a:pt x="97867" y="0"/>
                  <a:pt x="21859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1305135" y="6608772"/>
            <a:ext cx="6858000" cy="3678238"/>
          </a:xfrm>
          <a:custGeom>
            <a:rect b="b" l="l" r="r" t="t"/>
            <a:pathLst>
              <a:path extrusionOk="0" h="2452159" w="4572000">
                <a:moveTo>
                  <a:pt x="162946" y="0"/>
                </a:moveTo>
                <a:lnTo>
                  <a:pt x="4409054" y="0"/>
                </a:lnTo>
                <a:cubicBezTo>
                  <a:pt x="4499047" y="0"/>
                  <a:pt x="4572000" y="72953"/>
                  <a:pt x="4572000" y="162946"/>
                </a:cubicBezTo>
                <a:lnTo>
                  <a:pt x="4572000" y="2452159"/>
                </a:lnTo>
                <a:lnTo>
                  <a:pt x="0" y="2452159"/>
                </a:lnTo>
                <a:lnTo>
                  <a:pt x="0" y="162946"/>
                </a:lnTo>
                <a:cubicBezTo>
                  <a:pt x="0" y="72953"/>
                  <a:pt x="72953" y="0"/>
                  <a:pt x="16294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idad de Educación a Distancia" id="184" name="Google Shape;1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0433" y="7319106"/>
            <a:ext cx="5705017" cy="20965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04178" y="965200"/>
            <a:ext cx="5889665" cy="767383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" name="Google Shape;186;p10"/>
          <p:cNvGrpSpPr/>
          <p:nvPr/>
        </p:nvGrpSpPr>
        <p:grpSpPr>
          <a:xfrm>
            <a:off x="1899691" y="1024291"/>
            <a:ext cx="5715759" cy="3920111"/>
            <a:chOff x="0" y="222885"/>
            <a:chExt cx="11569700" cy="7934993"/>
          </a:xfrm>
        </p:grpSpPr>
        <p:sp>
          <p:nvSpPr>
            <p:cNvPr id="187" name="Google Shape;187;p10"/>
            <p:cNvSpPr txBox="1"/>
            <p:nvPr/>
          </p:nvSpPr>
          <p:spPr>
            <a:xfrm>
              <a:off x="0" y="222885"/>
              <a:ext cx="11569700" cy="60741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2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761"/>
                <a:buFont typeface="Arial"/>
                <a:buNone/>
              </a:pPr>
              <a:r>
                <a:rPr b="0" i="0" lang="en-US" sz="4761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Evaluación de conocimientos previos</a:t>
              </a:r>
              <a:endParaRPr b="0" i="0" sz="4761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marR="0" rtl="0" algn="ctr">
                <a:lnSpc>
                  <a:spcPct val="120016"/>
                </a:lnSpc>
                <a:spcBef>
                  <a:spcPts val="600"/>
                </a:spcBef>
                <a:spcAft>
                  <a:spcPts val="0"/>
                </a:spcAft>
                <a:buClr>
                  <a:srgbClr val="000000"/>
                </a:buClr>
                <a:buSzPts val="4761"/>
                <a:buFont typeface="Arial"/>
                <a:buNone/>
              </a:pPr>
              <a:r>
                <a:rPr b="0" i="0" lang="en-US" sz="4761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MYS1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0"/>
            <p:cNvSpPr txBox="1"/>
            <p:nvPr/>
          </p:nvSpPr>
          <p:spPr>
            <a:xfrm>
              <a:off x="0" y="7706605"/>
              <a:ext cx="11569700" cy="4512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59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0"/>
            <p:cNvSpPr txBox="1"/>
            <p:nvPr/>
          </p:nvSpPr>
          <p:spPr>
            <a:xfrm>
              <a:off x="0" y="5582408"/>
              <a:ext cx="11569700" cy="6839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997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350"/>
                <a:buFont typeface="Arial"/>
                <a:buNone/>
              </a:pPr>
              <a:r>
                <a:t/>
              </a:r>
              <a:endParaRPr b="1" i="0" sz="3350" u="none" cap="none" strike="noStrike">
                <a:solidFill>
                  <a:srgbClr val="399D4E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11"/>
          <p:cNvGrpSpPr/>
          <p:nvPr/>
        </p:nvGrpSpPr>
        <p:grpSpPr>
          <a:xfrm>
            <a:off x="1171248" y="612416"/>
            <a:ext cx="7235427" cy="7464927"/>
            <a:chOff x="0" y="60113"/>
            <a:chExt cx="9647236" cy="9953235"/>
          </a:xfrm>
        </p:grpSpPr>
        <p:sp>
          <p:nvSpPr>
            <p:cNvPr id="195" name="Google Shape;195;p11"/>
            <p:cNvSpPr txBox="1"/>
            <p:nvPr/>
          </p:nvSpPr>
          <p:spPr>
            <a:xfrm>
              <a:off x="0" y="60113"/>
              <a:ext cx="9647236" cy="33583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950"/>
                <a:buFont typeface="Arial"/>
                <a:buNone/>
              </a:pPr>
              <a:r>
                <a:rPr b="0" i="0" lang="en-US" sz="5950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Recursos y herramientas a utilizar.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1"/>
            <p:cNvSpPr txBox="1"/>
            <p:nvPr/>
          </p:nvSpPr>
          <p:spPr>
            <a:xfrm>
              <a:off x="0" y="5485375"/>
              <a:ext cx="9647236" cy="45279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61777" lvl="1" marL="523557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A2A"/>
                </a:buClr>
                <a:buSzPts val="2424"/>
                <a:buFont typeface="Arial"/>
                <a:buChar char="•"/>
              </a:pPr>
              <a:r>
                <a:rPr b="0" i="0" lang="en-US" sz="2424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Version 15 o 17 de SIMIO SOFTWARE.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61777" lvl="1" marL="523557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A2A"/>
                </a:buClr>
                <a:buSzPts val="2424"/>
                <a:buFont typeface="Arial"/>
                <a:buChar char="•"/>
              </a:pPr>
              <a:r>
                <a:rPr b="0" i="0" lang="en-US" sz="2424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Ejemplos vistos en clase.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61777" lvl="1" marL="523557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A2A"/>
                </a:buClr>
                <a:buSzPts val="2424"/>
                <a:buFont typeface="Arial"/>
                <a:buChar char="•"/>
              </a:pPr>
              <a:r>
                <a:rPr b="0" i="0" lang="en-US" sz="2424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Repositorio.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61777" lvl="1" marL="523557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A2A"/>
                </a:buClr>
                <a:buSzPts val="2424"/>
                <a:buFont typeface="Arial"/>
                <a:buChar char="•"/>
              </a:pPr>
              <a:r>
                <a:rPr b="0" i="0" lang="en-US" sz="2424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Laguna, Manuel; Marklund, Johan. Business Process Modeling, Simulation and Design –3era Edición</a:t>
              </a:r>
              <a:endParaRPr b="0" i="0" sz="2424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-261778" lvl="1" marL="523557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A2A"/>
                </a:buClr>
                <a:buSzPts val="2424"/>
                <a:buFont typeface="Arial"/>
                <a:buChar char="•"/>
              </a:pPr>
              <a:r>
                <a:rPr b="0" i="0" lang="en-US" sz="2424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Law, Averill M. Simulation Modeling &amp; Analysis – 4ta Edición. McGraw Hill, New York, 2007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7" name="Google Shape;197;p11"/>
          <p:cNvSpPr/>
          <p:nvPr/>
        </p:nvSpPr>
        <p:spPr>
          <a:xfrm>
            <a:off x="10299469" y="1424581"/>
            <a:ext cx="6155907" cy="6867644"/>
          </a:xfrm>
          <a:custGeom>
            <a:rect b="b" l="l" r="r" t="t"/>
            <a:pathLst>
              <a:path extrusionOk="0" h="6867644" w="6155907">
                <a:moveTo>
                  <a:pt x="0" y="0"/>
                </a:moveTo>
                <a:lnTo>
                  <a:pt x="6155906" y="0"/>
                </a:lnTo>
                <a:lnTo>
                  <a:pt x="6155906" y="6867645"/>
                </a:lnTo>
                <a:lnTo>
                  <a:pt x="0" y="68676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"/>
          <p:cNvSpPr txBox="1"/>
          <p:nvPr/>
        </p:nvSpPr>
        <p:spPr>
          <a:xfrm>
            <a:off x="1703996" y="1822790"/>
            <a:ext cx="14880008" cy="19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0" i="0" lang="en-US" sz="6500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Temas principales que se abordarán durante el semestre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3" name="Google Shape;203;p12"/>
          <p:cNvGrpSpPr/>
          <p:nvPr/>
        </p:nvGrpSpPr>
        <p:grpSpPr>
          <a:xfrm>
            <a:off x="7291514" y="5143500"/>
            <a:ext cx="4078658" cy="3882757"/>
            <a:chOff x="0" y="0"/>
            <a:chExt cx="5438211" cy="5177009"/>
          </a:xfrm>
        </p:grpSpPr>
        <p:sp>
          <p:nvSpPr>
            <p:cNvPr id="204" name="Google Shape;204;p12"/>
            <p:cNvSpPr txBox="1"/>
            <p:nvPr/>
          </p:nvSpPr>
          <p:spPr>
            <a:xfrm>
              <a:off x="0" y="1642939"/>
              <a:ext cx="5438211" cy="1117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Modelos basados en datos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2"/>
            <p:cNvSpPr txBox="1"/>
            <p:nvPr/>
          </p:nvSpPr>
          <p:spPr>
            <a:xfrm>
              <a:off x="0" y="3130616"/>
              <a:ext cx="5438211" cy="20463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37490" lvl="1" marL="474979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A2A"/>
                </a:buClr>
                <a:buSzPts val="2199"/>
                <a:buFont typeface="Arial"/>
                <a:buChar char="•"/>
              </a:pPr>
              <a:r>
                <a:rPr b="0" i="0" lang="en-US" sz="2199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Data tables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37490" lvl="1" marL="474979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A2A"/>
                </a:buClr>
                <a:buSzPts val="2199"/>
                <a:buFont typeface="Arial"/>
                <a:buChar char="•"/>
              </a:pPr>
              <a:r>
                <a:rPr b="0" i="0" lang="en-US" sz="2199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Listas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37490" lvl="1" marL="474979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A2A"/>
                </a:buClr>
                <a:buSzPts val="2199"/>
                <a:buFont typeface="Arial"/>
                <a:buChar char="•"/>
              </a:pPr>
              <a:r>
                <a:rPr b="0" i="0" lang="en-US" sz="2199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Tablas de sequiencia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37490" lvl="1" marL="474980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A2A"/>
                </a:buClr>
                <a:buSzPts val="2199"/>
                <a:buFont typeface="Arial"/>
                <a:buChar char="•"/>
              </a:pPr>
              <a:r>
                <a:rPr b="0" i="0" lang="en-US" sz="2199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Work Schedule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0" y="0"/>
              <a:ext cx="833265" cy="856627"/>
            </a:xfrm>
            <a:custGeom>
              <a:rect b="b" l="l" r="r" t="t"/>
              <a:pathLst>
                <a:path extrusionOk="0" h="856627" w="833265">
                  <a:moveTo>
                    <a:pt x="0" y="0"/>
                  </a:moveTo>
                  <a:lnTo>
                    <a:pt x="833265" y="0"/>
                  </a:lnTo>
                  <a:lnTo>
                    <a:pt x="833265" y="856627"/>
                  </a:lnTo>
                  <a:lnTo>
                    <a:pt x="0" y="85662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207;p12"/>
          <p:cNvGrpSpPr/>
          <p:nvPr/>
        </p:nvGrpSpPr>
        <p:grpSpPr>
          <a:xfrm>
            <a:off x="12675098" y="4498669"/>
            <a:ext cx="4078658" cy="3854182"/>
            <a:chOff x="0" y="0"/>
            <a:chExt cx="5438211" cy="5138909"/>
          </a:xfrm>
        </p:grpSpPr>
        <p:sp>
          <p:nvSpPr>
            <p:cNvPr id="208" name="Google Shape;208;p12"/>
            <p:cNvSpPr txBox="1"/>
            <p:nvPr/>
          </p:nvSpPr>
          <p:spPr>
            <a:xfrm>
              <a:off x="0" y="1642939"/>
              <a:ext cx="5438211" cy="55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Librería de Flujo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2"/>
            <p:cNvSpPr txBox="1"/>
            <p:nvPr/>
          </p:nvSpPr>
          <p:spPr>
            <a:xfrm>
              <a:off x="0" y="2571816"/>
              <a:ext cx="5438211" cy="2567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37490" lvl="1" marL="474980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A2A"/>
                </a:buClr>
                <a:buSzPts val="2199"/>
                <a:buFont typeface="Arial"/>
                <a:buChar char="•"/>
              </a:pPr>
              <a:r>
                <a:rPr b="0" i="0" lang="en-US" sz="2199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FlowSource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37490" lvl="1" marL="474979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A2A"/>
                </a:buClr>
                <a:buSzPts val="2199"/>
                <a:buFont typeface="Arial"/>
                <a:buChar char="•"/>
              </a:pPr>
              <a:r>
                <a:rPr b="0" i="0" lang="en-US" sz="2199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FlowSink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37490" lvl="1" marL="474979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A2A"/>
                </a:buClr>
                <a:buSzPts val="2199"/>
                <a:buFont typeface="Arial"/>
                <a:buChar char="•"/>
              </a:pPr>
              <a:r>
                <a:rPr b="0" i="0" lang="en-US" sz="2199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FlowConector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37490" lvl="1" marL="474979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A2A"/>
                </a:buClr>
                <a:buSzPts val="2199"/>
                <a:buFont typeface="Arial"/>
                <a:buChar char="•"/>
              </a:pPr>
              <a:r>
                <a:rPr b="0" i="0" lang="en-US" sz="2199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FlowNode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37490" lvl="1" marL="474979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A2A"/>
                </a:buClr>
                <a:buSzPts val="2199"/>
                <a:buFont typeface="Arial"/>
                <a:buChar char="•"/>
              </a:pPr>
              <a:r>
                <a:rPr b="0" i="0" lang="en-US" sz="2199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ContainerEntity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12"/>
            <p:cNvSpPr/>
            <p:nvPr/>
          </p:nvSpPr>
          <p:spPr>
            <a:xfrm>
              <a:off x="0" y="0"/>
              <a:ext cx="833265" cy="856627"/>
            </a:xfrm>
            <a:custGeom>
              <a:rect b="b" l="l" r="r" t="t"/>
              <a:pathLst>
                <a:path extrusionOk="0" h="856627" w="833265">
                  <a:moveTo>
                    <a:pt x="0" y="0"/>
                  </a:moveTo>
                  <a:lnTo>
                    <a:pt x="833265" y="0"/>
                  </a:lnTo>
                  <a:lnTo>
                    <a:pt x="833265" y="856627"/>
                  </a:lnTo>
                  <a:lnTo>
                    <a:pt x="0" y="85662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1" name="Google Shape;211;p12"/>
          <p:cNvGrpSpPr/>
          <p:nvPr/>
        </p:nvGrpSpPr>
        <p:grpSpPr>
          <a:xfrm>
            <a:off x="1909125" y="4664975"/>
            <a:ext cx="4078658" cy="3854182"/>
            <a:chOff x="0" y="0"/>
            <a:chExt cx="5438211" cy="5138909"/>
          </a:xfrm>
        </p:grpSpPr>
        <p:sp>
          <p:nvSpPr>
            <p:cNvPr id="212" name="Google Shape;212;p12"/>
            <p:cNvSpPr txBox="1"/>
            <p:nvPr/>
          </p:nvSpPr>
          <p:spPr>
            <a:xfrm>
              <a:off x="0" y="1642939"/>
              <a:ext cx="5438211" cy="55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799"/>
                <a:buFont typeface="Arial"/>
                <a:buNone/>
              </a:pPr>
              <a:r>
                <a:rPr b="1" i="0" lang="en-US" sz="2799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 Librería estándar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12"/>
            <p:cNvSpPr txBox="1"/>
            <p:nvPr/>
          </p:nvSpPr>
          <p:spPr>
            <a:xfrm>
              <a:off x="0" y="2571816"/>
              <a:ext cx="5438211" cy="2567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237490" lvl="1" marL="474979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A2A"/>
                </a:buClr>
                <a:buSzPts val="2199"/>
                <a:buFont typeface="Arial"/>
                <a:buChar char="•"/>
              </a:pPr>
              <a:r>
                <a:rPr b="0" i="0" lang="en-US" sz="2199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Source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37490" lvl="1" marL="474979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A2A"/>
                </a:buClr>
                <a:buSzPts val="2199"/>
                <a:buFont typeface="Arial"/>
                <a:buChar char="•"/>
              </a:pPr>
              <a:r>
                <a:rPr b="0" i="0" lang="en-US" sz="2199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Sink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37490" lvl="1" marL="474979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A2A"/>
                </a:buClr>
                <a:buSzPts val="2199"/>
                <a:buFont typeface="Arial"/>
                <a:buChar char="•"/>
              </a:pPr>
              <a:r>
                <a:rPr b="0" i="0" lang="en-US" sz="2199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Server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37490" lvl="1" marL="474979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A2A"/>
                </a:buClr>
                <a:buSzPts val="2199"/>
                <a:buFont typeface="Arial"/>
                <a:buChar char="•"/>
              </a:pPr>
              <a:r>
                <a:rPr b="0" i="0" lang="en-US" sz="2199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Combiner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37490" lvl="1" marL="474980" marR="0" rtl="0" algn="l">
                <a:lnSpc>
                  <a:spcPct val="140018"/>
                </a:lnSpc>
                <a:spcBef>
                  <a:spcPts val="0"/>
                </a:spcBef>
                <a:spcAft>
                  <a:spcPts val="0"/>
                </a:spcAft>
                <a:buClr>
                  <a:srgbClr val="2A2A2A"/>
                </a:buClr>
                <a:buSzPts val="2199"/>
                <a:buFont typeface="Arial"/>
                <a:buChar char="•"/>
              </a:pPr>
              <a:r>
                <a:rPr b="0" i="0" lang="en-US" sz="2199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Etc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2"/>
            <p:cNvSpPr/>
            <p:nvPr/>
          </p:nvSpPr>
          <p:spPr>
            <a:xfrm>
              <a:off x="0" y="0"/>
              <a:ext cx="833265" cy="856627"/>
            </a:xfrm>
            <a:custGeom>
              <a:rect b="b" l="l" r="r" t="t"/>
              <a:pathLst>
                <a:path extrusionOk="0" h="856627" w="833265">
                  <a:moveTo>
                    <a:pt x="0" y="0"/>
                  </a:moveTo>
                  <a:lnTo>
                    <a:pt x="833265" y="0"/>
                  </a:lnTo>
                  <a:lnTo>
                    <a:pt x="833265" y="856627"/>
                  </a:lnTo>
                  <a:lnTo>
                    <a:pt x="0" y="85662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1EFB2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3"/>
          <p:cNvSpPr txBox="1"/>
          <p:nvPr/>
        </p:nvSpPr>
        <p:spPr>
          <a:xfrm>
            <a:off x="8634874" y="856038"/>
            <a:ext cx="8983027" cy="362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b="0" i="0" lang="en-US" sz="8600" u="none" cap="none" strike="noStrike">
                <a:solidFill>
                  <a:srgbClr val="2A2A2A"/>
                </a:solidFill>
                <a:latin typeface="Open Sans"/>
                <a:ea typeface="Open Sans"/>
                <a:cs typeface="Open Sans"/>
                <a:sym typeface="Open Sans"/>
              </a:rPr>
              <a:t>Evaluación de conocimientos MYS2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0" y="0"/>
            <a:ext cx="8005354" cy="10287000"/>
          </a:xfrm>
          <a:custGeom>
            <a:rect b="b" l="l" r="r" t="t"/>
            <a:pathLst>
              <a:path extrusionOk="0" h="10287000" w="8005354">
                <a:moveTo>
                  <a:pt x="0" y="0"/>
                </a:moveTo>
                <a:lnTo>
                  <a:pt x="8005354" y="0"/>
                </a:lnTo>
                <a:lnTo>
                  <a:pt x="8005354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46253" r="-46251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nidad de Educación a Distancia" id="221" name="Google Shape;22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58400" y="5676900"/>
            <a:ext cx="6427754" cy="2362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"/>
          <p:cNvSpPr/>
          <p:nvPr/>
        </p:nvSpPr>
        <p:spPr>
          <a:xfrm flipH="1">
            <a:off x="1753961" y="2157304"/>
            <a:ext cx="6662911" cy="5972391"/>
          </a:xfrm>
          <a:custGeom>
            <a:rect b="b" l="l" r="r" t="t"/>
            <a:pathLst>
              <a:path extrusionOk="0" h="5972391" w="6662911">
                <a:moveTo>
                  <a:pt x="6662911" y="0"/>
                </a:moveTo>
                <a:lnTo>
                  <a:pt x="0" y="0"/>
                </a:lnTo>
                <a:lnTo>
                  <a:pt x="0" y="5972392"/>
                </a:lnTo>
                <a:lnTo>
                  <a:pt x="6662911" y="5972392"/>
                </a:lnTo>
                <a:lnTo>
                  <a:pt x="6662911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7" name="Google Shape;227;p14"/>
          <p:cNvGrpSpPr/>
          <p:nvPr/>
        </p:nvGrpSpPr>
        <p:grpSpPr>
          <a:xfrm>
            <a:off x="10286078" y="2507206"/>
            <a:ext cx="6086475" cy="5276399"/>
            <a:chOff x="0" y="0"/>
            <a:chExt cx="8115300" cy="7035198"/>
          </a:xfrm>
        </p:grpSpPr>
        <p:sp>
          <p:nvSpPr>
            <p:cNvPr id="228" name="Google Shape;228;p14"/>
            <p:cNvSpPr txBox="1"/>
            <p:nvPr/>
          </p:nvSpPr>
          <p:spPr>
            <a:xfrm>
              <a:off x="0" y="0"/>
              <a:ext cx="8115300" cy="548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0"/>
                <a:buFont typeface="Arial"/>
                <a:buNone/>
              </a:pPr>
              <a:r>
                <a:rPr b="0" i="0" lang="en-US" sz="9000" u="none" cap="none" strike="noStrike">
                  <a:solidFill>
                    <a:srgbClr val="2A2A2A"/>
                  </a:solidFill>
                  <a:latin typeface="Open Sans"/>
                  <a:ea typeface="Open Sans"/>
                  <a:cs typeface="Open Sans"/>
                  <a:sym typeface="Open Sans"/>
                </a:rPr>
                <a:t>¿Tienes alguna pregunta?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14"/>
            <p:cNvSpPr txBox="1"/>
            <p:nvPr/>
          </p:nvSpPr>
          <p:spPr>
            <a:xfrm>
              <a:off x="0" y="6488040"/>
              <a:ext cx="8115300" cy="547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94388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